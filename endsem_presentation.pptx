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1562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3A5D9F"/>
          </a:solidFill>
          <a:ln w="12700">
            <a:solidFill>
              <a:srgbClr val="3A5D9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11704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GNN-Based Node Influence Spread Prediction</a:t>
            </a:r>
            <a:endParaRPr lang="en-US" sz="2700" dirty="0"/>
          </a:p>
          <a:p>
            <a:pPr marL="0" indent="0">
              <a:buNone/>
            </a:pPr>
            <a:r>
              <a:rPr lang="en-US" sz="2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LT &amp; IC Diffusion Models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C4A7A"/>
          </a:solidFill>
          <a:ln w="12700">
            <a:solidFill>
              <a:srgbClr val="2C4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82880" y="6492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 Yash Sharma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663440" y="6492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 2301249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961120" y="6492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1261872"/>
            <a:ext cx="11521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2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Introduction: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0" y="1201450"/>
            <a:ext cx="11521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 maximization finds seed nodes whose activation spreads information as widely as possible.</a:t>
            </a:r>
            <a:endParaRPr lang="en-US" sz="125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to viral marketing, epidemic control, and misinformation containment under IC or LT diffusion rules.</a:t>
            </a:r>
            <a:endParaRPr lang="en-US" sz="125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benchmark four GNN architectures (GAT, GCN, GIN, GraphSAGE) + Ridge regression head vs Linear, Polynomial (deg-3), and Random Forest baselines.</a:t>
            </a:r>
            <a:endParaRPr lang="en-US" sz="125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GNNs replace fixed neighbourhood aggregation with learned structural context encoding via attention (GAT), spectral convolution (GCN), sum aggregation (GIN), or mean pooling (GraphSAGE).</a:t>
            </a:r>
            <a:endParaRPr lang="en-US" sz="125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 run on a 500-node Barabasi-Albert graph to measure the value of structural context across architectures.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20040" y="3095154"/>
            <a:ext cx="11521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2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Motivation: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0" y="2936568"/>
            <a:ext cx="11521440" cy="2267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ML models are graph-agnostic — they rely on centrality scores but ignore neighbourhood wiring.</a:t>
            </a:r>
            <a:endParaRPr lang="en-US" sz="125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Betweenness, closeness, and eigenvector centrality each capture only one aspect of a node's role.</a:t>
            </a:r>
            <a:endParaRPr lang="en-US" sz="125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encode neighbourhood density, edge-weight patterns, or hub-satellite structure.</a:t>
            </a:r>
            <a:endParaRPr lang="en-US" sz="125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spread before activation is what makes this hard and valuable in practice.</a:t>
            </a:r>
            <a:endParaRPr lang="en-US" sz="125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with access to local graph texture should outperform any feature-only approach.</a:t>
            </a:r>
            <a:endParaRPr lang="en-US" sz="125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provides a clean, reproducible multi-GNN comparison and lays groundwork for extending to GCN.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9E0D9A-71E3-9184-403A-4608C912EC97}"/>
              </a:ext>
            </a:extLst>
          </p:cNvPr>
          <p:cNvSpPr txBox="1"/>
          <p:nvPr/>
        </p:nvSpPr>
        <p:spPr>
          <a:xfrm>
            <a:off x="335280" y="4928436"/>
            <a:ext cx="11521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Proposed Methodology:</a:t>
            </a:r>
            <a:endParaRPr lang="en-IN" dirty="0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C567D164-ADD8-0466-03A2-72C37D17DD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407" y="5204280"/>
            <a:ext cx="11675953" cy="12464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5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Generated a 500-node </a:t>
            </a:r>
            <a:r>
              <a:rPr kumimoji="0" lang="en-US" altLang="en-US" sz="125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Barabási</a:t>
            </a:r>
            <a:r>
              <a:rPr kumimoji="0" lang="en-US" altLang="en-US" sz="125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-Albert synthetic social network and extracted standardized centrality metrics (Betweenness, Closeness, Eigenvector) to serve as initial node 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5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features.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5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Established ground truth target labels by executing 200 Monte Carlo simulations per node to calculate actual influence spread.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5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Evaluated four Graph Neural Network architectures (GCN, GAT, GIN, GraphSAGE) acting as structural feature extractors, fed into a Ridge Regression head.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5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Benchmarked GNN performance against classical baselines (Linear, Polynomial, Random Forest) using an 80/20 train-test split.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5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Measured predictive accuracy and goodness of fit across all models using Mean Squared Error (MSE) and R-squared (R²) metrics.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EA4B6B-D83B-8038-13CC-243ED24748D3}"/>
              </a:ext>
            </a:extLst>
          </p:cNvPr>
          <p:cNvSpPr txBox="1"/>
          <p:nvPr/>
        </p:nvSpPr>
        <p:spPr>
          <a:xfrm>
            <a:off x="9698355" y="6528926"/>
            <a:ext cx="24631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/>
                </a:solidFill>
              </a:rPr>
              <a:t>Supervisor : Dr. Rohit Tripathi</a:t>
            </a:r>
            <a:endParaRPr lang="en-IN" sz="120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0480" y="-21669"/>
            <a:ext cx="12222480" cy="1097280"/>
          </a:xfrm>
          <a:prstGeom prst="rect">
            <a:avLst/>
          </a:prstGeom>
          <a:solidFill>
            <a:srgbClr val="3A5D9F"/>
          </a:solidFill>
          <a:ln w="12700">
            <a:solidFill>
              <a:srgbClr val="3A5D9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11704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Work / Literature Review: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C4A7A"/>
          </a:solidFill>
          <a:ln w="12700">
            <a:solidFill>
              <a:srgbClr val="2C4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82880" y="6492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 Yash Sharma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663440" y="6492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 2301249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961120" y="6492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Title:  GNN-Based Influence Spread Prediction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400005"/>
            <a:ext cx="11521440" cy="422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Velickovic et al. (2018) — Graph Attention Networks (GAT) [ICLR 2018]:</a:t>
            </a:r>
            <a:endParaRPr lang="en-US" sz="13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learnable per-neighbour attention weights, achieving state-of-the-art on node classification.</a:t>
            </a:r>
            <a:endParaRPr lang="en-US" sz="13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directly adapt this attention aggregation mechanism for IC/LT spread-score regression.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Kipf &amp; Welling (2017) — Graph Convolutional Networks (GCN) [ICLR 2017]:</a:t>
            </a:r>
            <a:endParaRPr lang="en-US" sz="13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graph convolution via symmetric normalised adjacency D⁻½(A+I)D⁻½ — simple, fast, widely used baseline.</a:t>
            </a:r>
            <a:endParaRPr lang="en-US" sz="13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expressiveness than GAT since all neighbours receive equal normalised weight.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Hamilton et al. (2017) — GraphSAGE [NeurIPS 2017]:</a:t>
            </a:r>
            <a:endParaRPr lang="en-US" sz="13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Inductive framework learning to aggregate from sampled local neighbourhoods (mean/LSTM/pooling aggregators).</a:t>
            </a:r>
            <a:endParaRPr lang="en-US" sz="13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the mean aggregator; L2 normalisation of output embedding ensures stable regression.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 et al. (2019) — Graph Isomorphism Network (GIN) [ICLR 2019]:</a:t>
            </a:r>
            <a:endParaRPr lang="en-US" sz="13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Proved GNNs are at most as powerful as WL graph isomorphism test; sum aggregation is optimal.</a:t>
            </a:r>
            <a:endParaRPr lang="en-US" sz="13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GIN's sum + MLP aggregation distinguishes multisets — relevant for high-degree hub nodes.</a:t>
            </a:r>
            <a:endParaRPr lang="en-US" sz="13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835159-66E2-32AF-6F87-82357B83AFA3}"/>
              </a:ext>
            </a:extLst>
          </p:cNvPr>
          <p:cNvSpPr txBox="1"/>
          <p:nvPr/>
        </p:nvSpPr>
        <p:spPr>
          <a:xfrm>
            <a:off x="213360" y="3974072"/>
            <a:ext cx="1165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Achieved:</a:t>
            </a:r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676F811A-0DAD-2298-7577-73C3266C4F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259" y="4248546"/>
            <a:ext cx="11711861" cy="22929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5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Reduced Mean Squared Error by 42% on the 100-node Independent Cascade test set, dropping from a 0.0071 linear baseline down to a precise 0.0041 using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250" dirty="0">
                <a:latin typeface="Arial" panose="020B0604020202020204" pitchFamily="34" charset="0"/>
              </a:rPr>
              <a:t> </a:t>
            </a:r>
            <a:r>
              <a:rPr kumimoji="0" lang="en-US" altLang="en-US" sz="125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GraphSAGE.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25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5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Accurately mapped the 0.18 to 0.63 spread trajectory, tightly tracking the true Monte Carlo influence curve, particularly within the critical top 15% of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5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high-influence nodes.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25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5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Eliminated the severe ±0.15 prediction volatility that plagued the Random Forest model, maintaining a stable R² score of 0.62 while keeping top-tier outlier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5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predictions within a tight margin of error.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25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5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Leveraged 16-dimensional GNN embeddings to capture complex cascading dynamics, instantly executing predictions that would normally require 200</a:t>
            </a:r>
            <a:endParaRPr lang="en-US" altLang="en-US" sz="125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5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Monte Carlo simulation iterations (200 per node) across the test set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3A5D9F"/>
          </a:solidFill>
          <a:ln w="12700">
            <a:solidFill>
              <a:srgbClr val="3A5D9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11704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Done till date: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C4A7A"/>
          </a:solidFill>
          <a:ln w="12700">
            <a:solidFill>
              <a:srgbClr val="2C4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82880" y="6492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 Yash Sharma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663440" y="6492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 2301249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961120" y="6492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Title:  GNN-Based Influence Spread Prediction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0" y="130122"/>
            <a:ext cx="1152144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685800" lvl="1" indent="-342900">
              <a:spcAft>
                <a:spcPts val="300"/>
              </a:spcAft>
              <a:buSzPct val="100000"/>
              <a:buChar char="•"/>
            </a:pP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20040" y="1166129"/>
            <a:ext cx="11521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Achieved: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1408681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 Spread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7789210"/>
              </p:ext>
            </p:extLst>
          </p:nvPr>
        </p:nvGraphicFramePr>
        <p:xfrm>
          <a:off x="502920" y="1674934"/>
          <a:ext cx="5577840" cy="2061639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47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D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D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D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D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99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99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000" dirty="0"/>
                        <a:t>0.0434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000" dirty="0"/>
                        <a:t>0.7109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99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0.0396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0.7492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99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GraphSAGE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0.0034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0.6391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99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0.0041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0.0529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99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PolyReg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0.0531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99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RandFor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0.0034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6195060" y="139846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 Spread</a:t>
            </a:r>
            <a:endParaRPr lang="en-US" sz="1100" dirty="0"/>
          </a:p>
        </p:txBody>
      </p:sp>
      <p:graphicFrame>
        <p:nvGraphicFramePr>
          <p:cNvPr id="14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5278024"/>
              </p:ext>
            </p:extLst>
          </p:nvPr>
        </p:nvGraphicFramePr>
        <p:xfrm>
          <a:off x="6263640" y="1649506"/>
          <a:ext cx="5577840" cy="2105403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4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D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D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D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D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7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0.0054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7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0.0057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0.0637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7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0.0563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77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GraphSAGE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0.0071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0.0687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77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0.0082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77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PolyReg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0.0738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77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RandFor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000" dirty="0"/>
                        <a:t>0.0064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000" dirty="0"/>
                        <a:t>0.0644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000" dirty="0"/>
                        <a:t>0.6715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15" name="Image 0" descr="imgs/influence_spread_ic_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" y="3873734"/>
            <a:ext cx="5852160" cy="2481346"/>
          </a:xfrm>
          <a:prstGeom prst="rect">
            <a:avLst/>
          </a:prstGeom>
        </p:spPr>
      </p:pic>
      <p:pic>
        <p:nvPicPr>
          <p:cNvPr id="16" name="Image 1" descr="imgs/influence_spread_lt_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3945678"/>
            <a:ext cx="5806440" cy="2409401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213360" y="6291072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1: IC Influence Spread — All Models vs Actual</a:t>
            </a:r>
            <a:endParaRPr lang="en-US" sz="900" dirty="0"/>
          </a:p>
        </p:txBody>
      </p:sp>
      <p:sp>
        <p:nvSpPr>
          <p:cNvPr id="18" name="Text 9"/>
          <p:cNvSpPr/>
          <p:nvPr/>
        </p:nvSpPr>
        <p:spPr>
          <a:xfrm>
            <a:off x="6355080" y="6289817"/>
            <a:ext cx="5806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2: LT Influence Spread — All Models vs Actual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787</TotalTime>
  <Words>814</Words>
  <Application>Microsoft Office PowerPoint</Application>
  <PresentationFormat>Widescreen</PresentationFormat>
  <Paragraphs>129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Yash Sharma</cp:lastModifiedBy>
  <cp:revision>10</cp:revision>
  <dcterms:created xsi:type="dcterms:W3CDTF">2026-04-18T14:08:07Z</dcterms:created>
  <dcterms:modified xsi:type="dcterms:W3CDTF">2026-04-29T04:53:15Z</dcterms:modified>
</cp:coreProperties>
</file>